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DM Sans" pitchFamily="2" charset="0"/>
      <p:regular r:id="rId13"/>
    </p:embeddedFont>
    <p:embeddedFont>
      <p:font typeface="DM Sans Bold" panose="020B0604020202020204" charset="0"/>
      <p:regular r:id="rId14"/>
    </p:embeddedFont>
    <p:embeddedFont>
      <p:font typeface="Georgia Pro Light" panose="02040302050405020303" pitchFamily="18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558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VAITH K" userId="185efa3c040ccf1c" providerId="LiveId" clId="{71FF2AF9-B59A-49C6-8F34-155E3132ACA1}"/>
    <pc:docChg chg="modSld">
      <pc:chgData name="ADVAITH K" userId="185efa3c040ccf1c" providerId="LiveId" clId="{71FF2AF9-B59A-49C6-8F34-155E3132ACA1}" dt="2026-04-02T07:29:07.591" v="3" actId="20577"/>
      <pc:docMkLst>
        <pc:docMk/>
      </pc:docMkLst>
      <pc:sldChg chg="modSp mod">
        <pc:chgData name="ADVAITH K" userId="185efa3c040ccf1c" providerId="LiveId" clId="{71FF2AF9-B59A-49C6-8F34-155E3132ACA1}" dt="2026-04-02T07:29:07.591" v="3" actId="20577"/>
        <pc:sldMkLst>
          <pc:docMk/>
          <pc:sldMk cId="0" sldId="257"/>
        </pc:sldMkLst>
        <pc:spChg chg="mod">
          <ac:chgData name="ADVAITH K" userId="185efa3c040ccf1c" providerId="LiveId" clId="{71FF2AF9-B59A-49C6-8F34-155E3132ACA1}" dt="2026-04-02T07:29:03.587" v="1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ADVAITH K" userId="185efa3c040ccf1c" providerId="LiveId" clId="{71FF2AF9-B59A-49C6-8F34-155E3132ACA1}" dt="2026-04-02T07:29:07.591" v="3" actId="20577"/>
          <ac:spMkLst>
            <pc:docMk/>
            <pc:sldMk cId="0" sldId="257"/>
            <ac:spMk id="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8991600" cy="10287000"/>
            <a:chOff x="0" y="0"/>
            <a:chExt cx="1035548" cy="11847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5548" cy="1184737"/>
            </a:xfrm>
            <a:custGeom>
              <a:avLst/>
              <a:gdLst/>
              <a:ahLst/>
              <a:cxnLst/>
              <a:rect l="l" t="t" r="r" b="b"/>
              <a:pathLst>
                <a:path w="1035548" h="1184737">
                  <a:moveTo>
                    <a:pt x="0" y="0"/>
                  </a:moveTo>
                  <a:lnTo>
                    <a:pt x="1035548" y="0"/>
                  </a:lnTo>
                  <a:lnTo>
                    <a:pt x="1035548" y="1184737"/>
                  </a:lnTo>
                  <a:lnTo>
                    <a:pt x="0" y="1184737"/>
                  </a:lnTo>
                  <a:close/>
                </a:path>
              </a:pathLst>
            </a:custGeom>
            <a:blipFill>
              <a:blip r:embed="rId2"/>
              <a:stretch>
                <a:fillRect t="-597" b="-59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0382250" y="3064149"/>
            <a:ext cx="6877050" cy="585084"/>
            <a:chOff x="0" y="0"/>
            <a:chExt cx="9169400" cy="780112"/>
          </a:xfrm>
        </p:grpSpPr>
        <p:sp>
          <p:nvSpPr>
            <p:cNvPr id="5" name="Freeform 5"/>
            <p:cNvSpPr/>
            <p:nvPr/>
          </p:nvSpPr>
          <p:spPr>
            <a:xfrm rot="-5400000" flipH="1">
              <a:off x="36553" y="74861"/>
              <a:ext cx="555143" cy="628248"/>
            </a:xfrm>
            <a:custGeom>
              <a:avLst/>
              <a:gdLst/>
              <a:ahLst/>
              <a:cxnLst/>
              <a:rect l="l" t="t" r="r" b="b"/>
              <a:pathLst>
                <a:path w="555143" h="628248">
                  <a:moveTo>
                    <a:pt x="555143" y="0"/>
                  </a:moveTo>
                  <a:lnTo>
                    <a:pt x="0" y="0"/>
                  </a:lnTo>
                  <a:lnTo>
                    <a:pt x="0" y="628248"/>
                  </a:lnTo>
                  <a:lnTo>
                    <a:pt x="555143" y="628248"/>
                  </a:lnTo>
                  <a:lnTo>
                    <a:pt x="555143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795304" y="95250"/>
              <a:ext cx="8374096" cy="6848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55"/>
                </a:lnSpc>
              </a:pPr>
              <a:r>
                <a:rPr lang="en-US" sz="3864" spc="-77">
                  <a:solidFill>
                    <a:srgbClr val="3B75CE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SkillMatch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372725" y="4003088"/>
            <a:ext cx="6886575" cy="3699578"/>
            <a:chOff x="0" y="0"/>
            <a:chExt cx="9182100" cy="4932770"/>
          </a:xfrm>
        </p:grpSpPr>
        <p:sp>
          <p:nvSpPr>
            <p:cNvPr id="8" name="TextBox 8"/>
            <p:cNvSpPr txBox="1"/>
            <p:nvPr/>
          </p:nvSpPr>
          <p:spPr>
            <a:xfrm>
              <a:off x="0" y="200025"/>
              <a:ext cx="9182100" cy="3686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99"/>
                </a:lnSpc>
              </a:pPr>
              <a:r>
                <a:rPr lang="en-US" sz="10499">
                  <a:solidFill>
                    <a:srgbClr val="1A3E8C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Fast-Track Portal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4137115"/>
              <a:ext cx="9172670" cy="795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039"/>
                </a:lnSpc>
              </a:pPr>
              <a:r>
                <a:rPr lang="en-US" sz="3599">
                  <a:solidFill>
                    <a:srgbClr val="3B75CE"/>
                  </a:solidFill>
                  <a:latin typeface="DM Sans"/>
                  <a:ea typeface="DM Sans"/>
                  <a:cs typeface="DM Sans"/>
                  <a:sym typeface="DM Sans"/>
                </a:rPr>
                <a:t>A platform for freshers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8039100"/>
            <a:ext cx="7191375" cy="1581150"/>
            <a:chOff x="0" y="0"/>
            <a:chExt cx="9588500" cy="2108200"/>
          </a:xfrm>
        </p:grpSpPr>
        <p:sp>
          <p:nvSpPr>
            <p:cNvPr id="3" name="TextBox 3"/>
            <p:cNvSpPr txBox="1"/>
            <p:nvPr/>
          </p:nvSpPr>
          <p:spPr>
            <a:xfrm>
              <a:off x="0" y="1141095"/>
              <a:ext cx="95885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 dirty="0">
                  <a:solidFill>
                    <a:srgbClr val="3B75CE"/>
                  </a:solidFill>
                  <a:latin typeface="DM Sans"/>
                  <a:ea typeface="DM Sans"/>
                  <a:cs typeface="DM Sans"/>
                  <a:sym typeface="DM Sans"/>
                </a:rPr>
                <a:t>1CR25AI009</a:t>
              </a:r>
            </a:p>
            <a:p>
              <a:pPr marL="0" lvl="0" indent="0" algn="l">
                <a:lnSpc>
                  <a:spcPts val="2940"/>
                </a:lnSpc>
              </a:pPr>
              <a:r>
                <a:rPr lang="en-US" sz="2100" dirty="0">
                  <a:solidFill>
                    <a:srgbClr val="3B75CE"/>
                  </a:solidFill>
                  <a:latin typeface="DM Sans"/>
                  <a:ea typeface="DM Sans"/>
                  <a:cs typeface="DM Sans"/>
                  <a:sym typeface="DM Sans"/>
                </a:rPr>
                <a:t>E-09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95885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3B75C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AMITH R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429875" y="8039100"/>
            <a:ext cx="7191375" cy="1581150"/>
            <a:chOff x="0" y="0"/>
            <a:chExt cx="9588500" cy="2108200"/>
          </a:xfrm>
        </p:grpSpPr>
        <p:sp>
          <p:nvSpPr>
            <p:cNvPr id="6" name="TextBox 6"/>
            <p:cNvSpPr txBox="1"/>
            <p:nvPr/>
          </p:nvSpPr>
          <p:spPr>
            <a:xfrm>
              <a:off x="0" y="1141095"/>
              <a:ext cx="95885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 dirty="0">
                  <a:solidFill>
                    <a:srgbClr val="3B75CE"/>
                  </a:solidFill>
                  <a:latin typeface="DM Sans"/>
                  <a:ea typeface="DM Sans"/>
                  <a:cs typeface="DM Sans"/>
                  <a:sym typeface="DM Sans"/>
                </a:rPr>
                <a:t>1CR25AI010</a:t>
              </a:r>
            </a:p>
            <a:p>
              <a:pPr marL="0" lvl="0" indent="0" algn="l">
                <a:lnSpc>
                  <a:spcPts val="2940"/>
                </a:lnSpc>
              </a:pPr>
              <a:r>
                <a:rPr lang="en-US" sz="2100" dirty="0">
                  <a:solidFill>
                    <a:srgbClr val="3B75CE"/>
                  </a:solidFill>
                  <a:latin typeface="DM Sans"/>
                  <a:ea typeface="DM Sans"/>
                  <a:cs typeface="DM Sans"/>
                  <a:sym typeface="DM Sans"/>
                </a:rPr>
                <a:t>E-10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95885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3B75C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ANANDA KRISHNA B 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3094975"/>
            <a:ext cx="7191375" cy="1568450"/>
            <a:chOff x="0" y="0"/>
            <a:chExt cx="9588500" cy="2091267"/>
          </a:xfrm>
        </p:grpSpPr>
        <p:sp>
          <p:nvSpPr>
            <p:cNvPr id="9" name="TextBox 9"/>
            <p:cNvSpPr txBox="1"/>
            <p:nvPr/>
          </p:nvSpPr>
          <p:spPr>
            <a:xfrm>
              <a:off x="0" y="1124162"/>
              <a:ext cx="95885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3B75CE"/>
                  </a:solidFill>
                  <a:latin typeface="DM Sans"/>
                  <a:ea typeface="DM Sans"/>
                  <a:cs typeface="DM Sans"/>
                  <a:sym typeface="DM Sans"/>
                </a:rPr>
                <a:t>1CR25IS010</a:t>
              </a:r>
            </a:p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3B75CE"/>
                  </a:solidFill>
                  <a:latin typeface="DM Sans"/>
                  <a:ea typeface="DM Sans"/>
                  <a:cs typeface="DM Sans"/>
                  <a:sym typeface="DM Sans"/>
                </a:rPr>
                <a:t>A-09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95885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3B75C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ADVAITH KOLARATH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429875" y="3078465"/>
            <a:ext cx="7191375" cy="1584960"/>
            <a:chOff x="0" y="0"/>
            <a:chExt cx="9588500" cy="211328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1146175"/>
              <a:ext cx="95885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3B75CE"/>
                  </a:solidFill>
                  <a:latin typeface="DM Sans"/>
                  <a:ea typeface="DM Sans"/>
                  <a:cs typeface="DM Sans"/>
                  <a:sym typeface="DM Sans"/>
                </a:rPr>
                <a:t>1CR25IS011</a:t>
              </a:r>
            </a:p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3B75CE"/>
                  </a:solidFill>
                  <a:latin typeface="DM Sans"/>
                  <a:ea typeface="DM Sans"/>
                  <a:cs typeface="DM Sans"/>
                  <a:sym typeface="DM Sans"/>
                </a:rPr>
                <a:t>A-10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95885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3B75C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AISHWARYA R AKKI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66750" y="733425"/>
            <a:ext cx="16954500" cy="114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1A3E8C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Team Members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2457450"/>
            <a:ext cx="7191375" cy="1612850"/>
            <a:chOff x="0" y="0"/>
            <a:chExt cx="9588500" cy="2150467"/>
          </a:xfrm>
        </p:grpSpPr>
        <p:sp>
          <p:nvSpPr>
            <p:cNvPr id="3" name="TextBox 3"/>
            <p:cNvSpPr txBox="1"/>
            <p:nvPr/>
          </p:nvSpPr>
          <p:spPr>
            <a:xfrm>
              <a:off x="0" y="1183362"/>
              <a:ext cx="95885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3B75CE"/>
                  </a:solidFill>
                  <a:latin typeface="DM Sans"/>
                  <a:ea typeface="DM Sans"/>
                  <a:cs typeface="DM Sans"/>
                  <a:sym typeface="DM Sans"/>
                </a:rPr>
                <a:t>Freshers often lack the necessary </a:t>
              </a:r>
              <a:r>
                <a:rPr lang="en-US" sz="2100" b="1">
                  <a:solidFill>
                    <a:srgbClr val="3B75C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job experience</a:t>
              </a:r>
              <a:r>
                <a:rPr lang="en-US" sz="2100">
                  <a:solidFill>
                    <a:srgbClr val="3B75CE"/>
                  </a:solidFill>
                  <a:latin typeface="DM Sans"/>
                  <a:ea typeface="DM Sans"/>
                  <a:cs typeface="DM Sans"/>
                  <a:sym typeface="DM Sans"/>
                </a:rPr>
                <a:t> to qualify for positions.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95885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3B75C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LACK OF EXPERIENCE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5165675"/>
            <a:ext cx="7191375" cy="1612850"/>
            <a:chOff x="0" y="0"/>
            <a:chExt cx="9588500" cy="2150467"/>
          </a:xfrm>
        </p:grpSpPr>
        <p:sp>
          <p:nvSpPr>
            <p:cNvPr id="6" name="TextBox 6"/>
            <p:cNvSpPr txBox="1"/>
            <p:nvPr/>
          </p:nvSpPr>
          <p:spPr>
            <a:xfrm>
              <a:off x="0" y="1183362"/>
              <a:ext cx="95885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3B75CE"/>
                  </a:solidFill>
                  <a:latin typeface="DM Sans"/>
                  <a:ea typeface="DM Sans"/>
                  <a:cs typeface="DM Sans"/>
                  <a:sym typeface="DM Sans"/>
                </a:rPr>
                <a:t>Fresh graduates find it challenging to gain </a:t>
              </a:r>
              <a:r>
                <a:rPr lang="en-US" sz="2100" b="1">
                  <a:solidFill>
                    <a:srgbClr val="3B75C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practical experience</a:t>
              </a:r>
              <a:r>
                <a:rPr lang="en-US" sz="2100">
                  <a:solidFill>
                    <a:srgbClr val="3B75CE"/>
                  </a:solidFill>
                  <a:latin typeface="DM Sans"/>
                  <a:ea typeface="DM Sans"/>
                  <a:cs typeface="DM Sans"/>
                  <a:sym typeface="DM Sans"/>
                </a:rPr>
                <a:t> without job opportunities.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95885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3B75C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NO OPPORTUNITIES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7829550"/>
            <a:ext cx="7191375" cy="1612850"/>
            <a:chOff x="0" y="0"/>
            <a:chExt cx="9588500" cy="2150467"/>
          </a:xfrm>
        </p:grpSpPr>
        <p:sp>
          <p:nvSpPr>
            <p:cNvPr id="9" name="TextBox 9"/>
            <p:cNvSpPr txBox="1"/>
            <p:nvPr/>
          </p:nvSpPr>
          <p:spPr>
            <a:xfrm>
              <a:off x="0" y="1183362"/>
              <a:ext cx="95885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3B75CE"/>
                  </a:solidFill>
                  <a:latin typeface="DM Sans"/>
                  <a:ea typeface="DM Sans"/>
                  <a:cs typeface="DM Sans"/>
                  <a:sym typeface="DM Sans"/>
                </a:rPr>
                <a:t>Job portals must address the </a:t>
              </a:r>
              <a:r>
                <a:rPr lang="en-US" sz="2100" b="1">
                  <a:solidFill>
                    <a:srgbClr val="3B75C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need for fraud detection</a:t>
              </a:r>
              <a:r>
                <a:rPr lang="en-US" sz="2100">
                  <a:solidFill>
                    <a:srgbClr val="3B75CE"/>
                  </a:solidFill>
                  <a:latin typeface="DM Sans"/>
                  <a:ea typeface="DM Sans"/>
                  <a:cs typeface="DM Sans"/>
                  <a:sym typeface="DM Sans"/>
                </a:rPr>
                <a:t> to protect users.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95885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3B75C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FRAUD DETECTION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96400" y="2457450"/>
            <a:ext cx="7191375" cy="1612850"/>
            <a:chOff x="0" y="0"/>
            <a:chExt cx="9588500" cy="2150467"/>
          </a:xfrm>
        </p:grpSpPr>
        <p:sp>
          <p:nvSpPr>
            <p:cNvPr id="12" name="TextBox 12"/>
            <p:cNvSpPr txBox="1"/>
            <p:nvPr/>
          </p:nvSpPr>
          <p:spPr>
            <a:xfrm>
              <a:off x="0" y="1183362"/>
              <a:ext cx="95885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3B75CE"/>
                  </a:solidFill>
                  <a:latin typeface="DM Sans"/>
                  <a:ea typeface="DM Sans"/>
                  <a:cs typeface="DM Sans"/>
                  <a:sym typeface="DM Sans"/>
                </a:rPr>
                <a:t>Many job portals </a:t>
              </a:r>
              <a:r>
                <a:rPr lang="en-US" sz="2100" b="1">
                  <a:solidFill>
                    <a:srgbClr val="3B75C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require resumes</a:t>
              </a:r>
              <a:r>
                <a:rPr lang="en-US" sz="2100">
                  <a:solidFill>
                    <a:srgbClr val="3B75CE"/>
                  </a:solidFill>
                  <a:latin typeface="DM Sans"/>
                  <a:ea typeface="DM Sans"/>
                  <a:cs typeface="DM Sans"/>
                  <a:sym typeface="DM Sans"/>
                </a:rPr>
                <a:t>, creating barriers for inexperienced candidates.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95885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3B75C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RESUME REQUIREMENTS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296400" y="5165675"/>
            <a:ext cx="7191375" cy="1612850"/>
            <a:chOff x="0" y="0"/>
            <a:chExt cx="9588500" cy="2150467"/>
          </a:xfrm>
        </p:grpSpPr>
        <p:sp>
          <p:nvSpPr>
            <p:cNvPr id="15" name="TextBox 15"/>
            <p:cNvSpPr txBox="1"/>
            <p:nvPr/>
          </p:nvSpPr>
          <p:spPr>
            <a:xfrm>
              <a:off x="0" y="1183362"/>
              <a:ext cx="95885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3B75CE"/>
                  </a:solidFill>
                  <a:latin typeface="DM Sans"/>
                  <a:ea typeface="DM Sans"/>
                  <a:cs typeface="DM Sans"/>
                  <a:sym typeface="DM Sans"/>
                </a:rPr>
                <a:t>There is a growing </a:t>
              </a:r>
              <a:r>
                <a:rPr lang="en-US" sz="2100" b="1">
                  <a:solidFill>
                    <a:srgbClr val="3B75C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need for entry-level</a:t>
              </a:r>
              <a:r>
                <a:rPr lang="en-US" sz="2100">
                  <a:solidFill>
                    <a:srgbClr val="3B75CE"/>
                  </a:solidFill>
                  <a:latin typeface="DM Sans"/>
                  <a:ea typeface="DM Sans"/>
                  <a:cs typeface="DM Sans"/>
                  <a:sym typeface="DM Sans"/>
                </a:rPr>
                <a:t> positions that can help freshers start.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95885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3B75C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ENTRY-LEVEL WORK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296400" y="7829550"/>
            <a:ext cx="7191375" cy="1612850"/>
            <a:chOff x="0" y="0"/>
            <a:chExt cx="9588500" cy="2150467"/>
          </a:xfrm>
        </p:grpSpPr>
        <p:sp>
          <p:nvSpPr>
            <p:cNvPr id="18" name="TextBox 18"/>
            <p:cNvSpPr txBox="1"/>
            <p:nvPr/>
          </p:nvSpPr>
          <p:spPr>
            <a:xfrm>
              <a:off x="0" y="1183362"/>
              <a:ext cx="95885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3B75CE"/>
                  </a:solidFill>
                  <a:latin typeface="DM Sans"/>
                  <a:ea typeface="DM Sans"/>
                  <a:cs typeface="DM Sans"/>
                  <a:sym typeface="DM Sans"/>
                </a:rPr>
                <a:t>Freshers require </a:t>
              </a:r>
              <a:r>
                <a:rPr lang="en-US" sz="2100" b="1">
                  <a:solidFill>
                    <a:srgbClr val="3B75C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practical exposure</a:t>
              </a:r>
              <a:r>
                <a:rPr lang="en-US" sz="2100">
                  <a:solidFill>
                    <a:srgbClr val="3B75CE"/>
                  </a:solidFill>
                  <a:latin typeface="DM Sans"/>
                  <a:ea typeface="DM Sans"/>
                  <a:cs typeface="DM Sans"/>
                  <a:sym typeface="DM Sans"/>
                </a:rPr>
                <a:t> to develop skills and confidence in their field.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95885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3B75C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PRACTICAL EXPOSURE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66750" y="733425"/>
            <a:ext cx="16954500" cy="114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1A3E8C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Problem Statement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2457450"/>
            <a:ext cx="7191375" cy="1612850"/>
            <a:chOff x="0" y="0"/>
            <a:chExt cx="9588500" cy="2150467"/>
          </a:xfrm>
        </p:grpSpPr>
        <p:sp>
          <p:nvSpPr>
            <p:cNvPr id="3" name="TextBox 3"/>
            <p:cNvSpPr txBox="1"/>
            <p:nvPr/>
          </p:nvSpPr>
          <p:spPr>
            <a:xfrm>
              <a:off x="0" y="1183362"/>
              <a:ext cx="95885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3B75CE"/>
                  </a:solidFill>
                  <a:latin typeface="DM Sans"/>
                  <a:ea typeface="DM Sans"/>
                  <a:cs typeface="DM Sans"/>
                  <a:sym typeface="DM Sans"/>
                </a:rPr>
                <a:t>A dedicated platform to assist first-year students in their job search journey.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95885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3B75C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PLATFORM FOR 1ST-YEARS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5165675"/>
            <a:ext cx="7191375" cy="1612850"/>
            <a:chOff x="0" y="0"/>
            <a:chExt cx="9588500" cy="2150467"/>
          </a:xfrm>
        </p:grpSpPr>
        <p:sp>
          <p:nvSpPr>
            <p:cNvPr id="6" name="TextBox 6"/>
            <p:cNvSpPr txBox="1"/>
            <p:nvPr/>
          </p:nvSpPr>
          <p:spPr>
            <a:xfrm>
              <a:off x="0" y="1183362"/>
              <a:ext cx="95885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3B75CE"/>
                  </a:solidFill>
                  <a:latin typeface="DM Sans"/>
                  <a:ea typeface="DM Sans"/>
                  <a:cs typeface="DM Sans"/>
                  <a:sym typeface="DM Sans"/>
                </a:rPr>
                <a:t>Ensuring all students have equal chances to apply for entry-level positions available.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95885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3B75C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FAIR OPPORTUNITIES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7829550"/>
            <a:ext cx="7191375" cy="1612850"/>
            <a:chOff x="0" y="0"/>
            <a:chExt cx="9588500" cy="2150467"/>
          </a:xfrm>
        </p:grpSpPr>
        <p:sp>
          <p:nvSpPr>
            <p:cNvPr id="9" name="TextBox 9"/>
            <p:cNvSpPr txBox="1"/>
            <p:nvPr/>
          </p:nvSpPr>
          <p:spPr>
            <a:xfrm>
              <a:off x="0" y="1183362"/>
              <a:ext cx="95885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3B75CE"/>
                  </a:solidFill>
                  <a:latin typeface="DM Sans"/>
                  <a:ea typeface="DM Sans"/>
                  <a:cs typeface="DM Sans"/>
                  <a:sym typeface="DM Sans"/>
                </a:rPr>
                <a:t>Creating a level playing field for every student to compete in the job market.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95885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3B75C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EQUAL ACCESS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96400" y="2457450"/>
            <a:ext cx="7191375" cy="1612850"/>
            <a:chOff x="0" y="0"/>
            <a:chExt cx="9588500" cy="2150467"/>
          </a:xfrm>
        </p:grpSpPr>
        <p:sp>
          <p:nvSpPr>
            <p:cNvPr id="12" name="TextBox 12"/>
            <p:cNvSpPr txBox="1"/>
            <p:nvPr/>
          </p:nvSpPr>
          <p:spPr>
            <a:xfrm>
              <a:off x="0" y="1183362"/>
              <a:ext cx="95885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3B75CE"/>
                  </a:solidFill>
                  <a:latin typeface="DM Sans"/>
                  <a:ea typeface="DM Sans"/>
                  <a:cs typeface="DM Sans"/>
                  <a:sym typeface="DM Sans"/>
                </a:rPr>
                <a:t>Emphasizing skills rather than resumes allows freshers to showcase their true potential.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95885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3B75C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FOCUS ON SKILLS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296400" y="5165675"/>
            <a:ext cx="7191375" cy="1612850"/>
            <a:chOff x="0" y="0"/>
            <a:chExt cx="9588500" cy="2150467"/>
          </a:xfrm>
        </p:grpSpPr>
        <p:sp>
          <p:nvSpPr>
            <p:cNvPr id="15" name="TextBox 15"/>
            <p:cNvSpPr txBox="1"/>
            <p:nvPr/>
          </p:nvSpPr>
          <p:spPr>
            <a:xfrm>
              <a:off x="0" y="1183362"/>
              <a:ext cx="95885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3B75CE"/>
                  </a:solidFill>
                  <a:latin typeface="DM Sans"/>
                  <a:ea typeface="DM Sans"/>
                  <a:cs typeface="DM Sans"/>
                  <a:sym typeface="DM Sans"/>
                </a:rPr>
                <a:t>Providing hands-on experiences through tasks that enhance practical skills and knowledge.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95885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3B75C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BUILD PRACTICAL EXPOSURE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66750" y="733425"/>
            <a:ext cx="16954500" cy="114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1A3E8C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Objective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2457450"/>
            <a:ext cx="7191375" cy="1612850"/>
            <a:chOff x="0" y="0"/>
            <a:chExt cx="9588500" cy="2150467"/>
          </a:xfrm>
        </p:grpSpPr>
        <p:sp>
          <p:nvSpPr>
            <p:cNvPr id="3" name="TextBox 3"/>
            <p:cNvSpPr txBox="1"/>
            <p:nvPr/>
          </p:nvSpPr>
          <p:spPr>
            <a:xfrm>
              <a:off x="0" y="1183362"/>
              <a:ext cx="95885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3B75CE"/>
                  </a:solidFill>
                  <a:latin typeface="DM Sans"/>
                  <a:ea typeface="DM Sans"/>
                  <a:cs typeface="DM Sans"/>
                  <a:sym typeface="DM Sans"/>
                </a:rPr>
                <a:t>The platform emphasizes skills over traditional resumes to empower freshers in job hunting.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95885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3B75C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SKILL-BASED PORTAL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5165675"/>
            <a:ext cx="7191375" cy="1612850"/>
            <a:chOff x="0" y="0"/>
            <a:chExt cx="9588500" cy="2150467"/>
          </a:xfrm>
        </p:grpSpPr>
        <p:sp>
          <p:nvSpPr>
            <p:cNvPr id="6" name="TextBox 6"/>
            <p:cNvSpPr txBox="1"/>
            <p:nvPr/>
          </p:nvSpPr>
          <p:spPr>
            <a:xfrm>
              <a:off x="0" y="1183362"/>
              <a:ext cx="95885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3B75CE"/>
                  </a:solidFill>
                  <a:latin typeface="DM Sans"/>
                  <a:ea typeface="DM Sans"/>
                  <a:cs typeface="DM Sans"/>
                  <a:sym typeface="DM Sans"/>
                </a:rPr>
                <a:t>SkillMatch connects freshers with relevant entry-level jobs and gig opportunities for experience.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95885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3B75C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ENTRY-LEVEL JOBS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7829550"/>
            <a:ext cx="7191375" cy="1612850"/>
            <a:chOff x="0" y="0"/>
            <a:chExt cx="9588500" cy="2150467"/>
          </a:xfrm>
        </p:grpSpPr>
        <p:sp>
          <p:nvSpPr>
            <p:cNvPr id="9" name="TextBox 9"/>
            <p:cNvSpPr txBox="1"/>
            <p:nvPr/>
          </p:nvSpPr>
          <p:spPr>
            <a:xfrm>
              <a:off x="0" y="1183362"/>
              <a:ext cx="95885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3B75CE"/>
                  </a:solidFill>
                  <a:latin typeface="DM Sans"/>
                  <a:ea typeface="DM Sans"/>
                  <a:cs typeface="DM Sans"/>
                  <a:sym typeface="DM Sans"/>
                </a:rPr>
                <a:t>Users gain real-world experience through tasks, preparing them for future job roles.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95885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3B75C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PRACTICAL EXPERIENCE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96400" y="2457450"/>
            <a:ext cx="7191375" cy="1612850"/>
            <a:chOff x="0" y="0"/>
            <a:chExt cx="9588500" cy="2150467"/>
          </a:xfrm>
        </p:grpSpPr>
        <p:sp>
          <p:nvSpPr>
            <p:cNvPr id="12" name="TextBox 12"/>
            <p:cNvSpPr txBox="1"/>
            <p:nvPr/>
          </p:nvSpPr>
          <p:spPr>
            <a:xfrm>
              <a:off x="0" y="1183362"/>
              <a:ext cx="95885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3B75CE"/>
                  </a:solidFill>
                  <a:latin typeface="DM Sans"/>
                  <a:ea typeface="DM Sans"/>
                  <a:cs typeface="DM Sans"/>
                  <a:sym typeface="DM Sans"/>
                </a:rPr>
                <a:t>Users complete tasks and earn badges, showcasing their skills to potential employers.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95885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3B75C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TASKS AND BADGES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296400" y="5165675"/>
            <a:ext cx="7191375" cy="1612850"/>
            <a:chOff x="0" y="0"/>
            <a:chExt cx="9588500" cy="2150467"/>
          </a:xfrm>
        </p:grpSpPr>
        <p:sp>
          <p:nvSpPr>
            <p:cNvPr id="15" name="TextBox 15"/>
            <p:cNvSpPr txBox="1"/>
            <p:nvPr/>
          </p:nvSpPr>
          <p:spPr>
            <a:xfrm>
              <a:off x="0" y="1183362"/>
              <a:ext cx="95885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3B75CE"/>
                  </a:solidFill>
                  <a:latin typeface="DM Sans"/>
                  <a:ea typeface="DM Sans"/>
                  <a:cs typeface="DM Sans"/>
                  <a:sym typeface="DM Sans"/>
                </a:rPr>
                <a:t>The platform incorporates basic fraud detection mechanisms to ensure authentic user profiles.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95885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3B75C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SIMPLE FRAUD CHECKS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66750" y="733425"/>
            <a:ext cx="16954500" cy="114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1A3E8C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Solution &amp; Features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2457450"/>
            <a:ext cx="7191375" cy="1612850"/>
            <a:chOff x="0" y="0"/>
            <a:chExt cx="9588500" cy="2150467"/>
          </a:xfrm>
        </p:grpSpPr>
        <p:sp>
          <p:nvSpPr>
            <p:cNvPr id="3" name="TextBox 3"/>
            <p:cNvSpPr txBox="1"/>
            <p:nvPr/>
          </p:nvSpPr>
          <p:spPr>
            <a:xfrm>
              <a:off x="0" y="1183362"/>
              <a:ext cx="95885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3B75CE"/>
                  </a:solidFill>
                  <a:latin typeface="DM Sans"/>
                  <a:ea typeface="DM Sans"/>
                  <a:cs typeface="DM Sans"/>
                  <a:sym typeface="DM Sans"/>
                </a:rPr>
                <a:t>Users securely log in to their accounts using their registered credentials for access.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95885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3B75C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USER LOGIN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5165675"/>
            <a:ext cx="7191375" cy="1612850"/>
            <a:chOff x="0" y="0"/>
            <a:chExt cx="9588500" cy="2150467"/>
          </a:xfrm>
        </p:grpSpPr>
        <p:sp>
          <p:nvSpPr>
            <p:cNvPr id="6" name="TextBox 6"/>
            <p:cNvSpPr txBox="1"/>
            <p:nvPr/>
          </p:nvSpPr>
          <p:spPr>
            <a:xfrm>
              <a:off x="0" y="1183362"/>
              <a:ext cx="95885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3B75CE"/>
                  </a:solidFill>
                  <a:latin typeface="DM Sans"/>
                  <a:ea typeface="DM Sans"/>
                  <a:cs typeface="DM Sans"/>
                  <a:sym typeface="DM Sans"/>
                </a:rPr>
                <a:t>Badges are awarded for completing tasks, showcasing skills to potential employers effectively.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95885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3B75C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EARN BADGES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7829550"/>
            <a:ext cx="7191375" cy="1612850"/>
            <a:chOff x="0" y="0"/>
            <a:chExt cx="9588500" cy="2150467"/>
          </a:xfrm>
        </p:grpSpPr>
        <p:sp>
          <p:nvSpPr>
            <p:cNvPr id="9" name="TextBox 9"/>
            <p:cNvSpPr txBox="1"/>
            <p:nvPr/>
          </p:nvSpPr>
          <p:spPr>
            <a:xfrm>
              <a:off x="0" y="1183362"/>
              <a:ext cx="95885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3B75CE"/>
                  </a:solidFill>
                  <a:latin typeface="DM Sans"/>
                  <a:ea typeface="DM Sans"/>
                  <a:cs typeface="DM Sans"/>
                  <a:sym typeface="DM Sans"/>
                </a:rPr>
                <a:t>Users are matched with entry-level job opportunities based on their skills and achievements.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95885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3B75C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JOB HIRING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96400" y="2457450"/>
            <a:ext cx="7191375" cy="1612850"/>
            <a:chOff x="0" y="0"/>
            <a:chExt cx="9588500" cy="2150467"/>
          </a:xfrm>
        </p:grpSpPr>
        <p:sp>
          <p:nvSpPr>
            <p:cNvPr id="12" name="TextBox 12"/>
            <p:cNvSpPr txBox="1"/>
            <p:nvPr/>
          </p:nvSpPr>
          <p:spPr>
            <a:xfrm>
              <a:off x="0" y="1183362"/>
              <a:ext cx="95885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3B75CE"/>
                  </a:solidFill>
                  <a:latin typeface="DM Sans"/>
                  <a:ea typeface="DM Sans"/>
                  <a:cs typeface="DM Sans"/>
                  <a:sym typeface="DM Sans"/>
                </a:rPr>
                <a:t>Users engage in various tasks to develop skills and earn recognition through badges.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95885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3B75C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COMPLETE TASKS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296400" y="5165675"/>
            <a:ext cx="7191375" cy="1612850"/>
            <a:chOff x="0" y="0"/>
            <a:chExt cx="9588500" cy="2150467"/>
          </a:xfrm>
        </p:grpSpPr>
        <p:sp>
          <p:nvSpPr>
            <p:cNvPr id="15" name="TextBox 15"/>
            <p:cNvSpPr txBox="1"/>
            <p:nvPr/>
          </p:nvSpPr>
          <p:spPr>
            <a:xfrm>
              <a:off x="0" y="1183362"/>
              <a:ext cx="95885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3B75CE"/>
                  </a:solidFill>
                  <a:latin typeface="DM Sans"/>
                  <a:ea typeface="DM Sans"/>
                  <a:cs typeface="DM Sans"/>
                  <a:sym typeface="DM Sans"/>
                </a:rPr>
                <a:t>Employers can review user profiles and skills based on completed tasks and badges.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95885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3B75C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EMPLOYER REVIEW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66750" y="733425"/>
            <a:ext cx="16954500" cy="114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1A3E8C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How It Works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2457450"/>
            <a:ext cx="7191375" cy="1612850"/>
            <a:chOff x="0" y="0"/>
            <a:chExt cx="9588500" cy="2150467"/>
          </a:xfrm>
        </p:grpSpPr>
        <p:sp>
          <p:nvSpPr>
            <p:cNvPr id="3" name="TextBox 3"/>
            <p:cNvSpPr txBox="1"/>
            <p:nvPr/>
          </p:nvSpPr>
          <p:spPr>
            <a:xfrm>
              <a:off x="0" y="1183362"/>
              <a:ext cx="95885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3B75CE"/>
                  </a:solidFill>
                  <a:latin typeface="DM Sans"/>
                  <a:ea typeface="DM Sans"/>
                  <a:cs typeface="DM Sans"/>
                  <a:sym typeface="DM Sans"/>
                </a:rPr>
                <a:t>HTML provides the structure of our web application, allowing content organization and layout.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95885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3B75C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HTML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5165675"/>
            <a:ext cx="7191375" cy="1612850"/>
            <a:chOff x="0" y="0"/>
            <a:chExt cx="9588500" cy="2150467"/>
          </a:xfrm>
        </p:grpSpPr>
        <p:sp>
          <p:nvSpPr>
            <p:cNvPr id="6" name="TextBox 6"/>
            <p:cNvSpPr txBox="1"/>
            <p:nvPr/>
          </p:nvSpPr>
          <p:spPr>
            <a:xfrm>
              <a:off x="0" y="1183362"/>
              <a:ext cx="95885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3B75CE"/>
                  </a:solidFill>
                  <a:latin typeface="DM Sans"/>
                  <a:ea typeface="DM Sans"/>
                  <a:cs typeface="DM Sans"/>
                  <a:sym typeface="DM Sans"/>
                </a:rPr>
                <a:t>JavaScript adds interactivity, enabling dynamic features and enhancing user engagement on the platform.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95885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3B75C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JS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7829550"/>
            <a:ext cx="7191375" cy="1612850"/>
            <a:chOff x="0" y="0"/>
            <a:chExt cx="9588500" cy="2150467"/>
          </a:xfrm>
        </p:grpSpPr>
        <p:sp>
          <p:nvSpPr>
            <p:cNvPr id="9" name="TextBox 9"/>
            <p:cNvSpPr txBox="1"/>
            <p:nvPr/>
          </p:nvSpPr>
          <p:spPr>
            <a:xfrm>
              <a:off x="0" y="1183362"/>
              <a:ext cx="95885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3B75CE"/>
                  </a:solidFill>
                  <a:latin typeface="DM Sans"/>
                  <a:ea typeface="DM Sans"/>
                  <a:cs typeface="DM Sans"/>
                  <a:sym typeface="DM Sans"/>
                </a:rPr>
                <a:t>PHP supports backend functionality, managing data interactions and enabling seamless user experiences.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95885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3B75C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PHP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96400" y="2457450"/>
            <a:ext cx="7191375" cy="1612850"/>
            <a:chOff x="0" y="0"/>
            <a:chExt cx="9588500" cy="2150467"/>
          </a:xfrm>
        </p:grpSpPr>
        <p:sp>
          <p:nvSpPr>
            <p:cNvPr id="12" name="TextBox 12"/>
            <p:cNvSpPr txBox="1"/>
            <p:nvPr/>
          </p:nvSpPr>
          <p:spPr>
            <a:xfrm>
              <a:off x="0" y="1183362"/>
              <a:ext cx="95885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3B75CE"/>
                  </a:solidFill>
                  <a:latin typeface="DM Sans"/>
                  <a:ea typeface="DM Sans"/>
                  <a:cs typeface="DM Sans"/>
                  <a:sym typeface="DM Sans"/>
                </a:rPr>
                <a:t>CSS enhances the visual style, ensuring a clean and appealing interface for users.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95885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3B75C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CSS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296400" y="5165675"/>
            <a:ext cx="7191375" cy="1612850"/>
            <a:chOff x="0" y="0"/>
            <a:chExt cx="9588500" cy="2150467"/>
          </a:xfrm>
        </p:grpSpPr>
        <p:sp>
          <p:nvSpPr>
            <p:cNvPr id="15" name="TextBox 15"/>
            <p:cNvSpPr txBox="1"/>
            <p:nvPr/>
          </p:nvSpPr>
          <p:spPr>
            <a:xfrm>
              <a:off x="0" y="1183362"/>
              <a:ext cx="95885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3B75CE"/>
                  </a:solidFill>
                  <a:latin typeface="DM Sans"/>
                  <a:ea typeface="DM Sans"/>
                  <a:cs typeface="DM Sans"/>
                  <a:sym typeface="DM Sans"/>
                </a:rPr>
                <a:t>Node.js facilitates server-side development, ensuring efficient handling of requests and real-time updates.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95885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3B75C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NODE.JS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66750" y="733425"/>
            <a:ext cx="16954500" cy="114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1A3E8C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Tech Stack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2457450"/>
            <a:ext cx="7191375" cy="1612850"/>
            <a:chOff x="0" y="0"/>
            <a:chExt cx="9588500" cy="2150467"/>
          </a:xfrm>
        </p:grpSpPr>
        <p:sp>
          <p:nvSpPr>
            <p:cNvPr id="3" name="TextBox 3"/>
            <p:cNvSpPr txBox="1"/>
            <p:nvPr/>
          </p:nvSpPr>
          <p:spPr>
            <a:xfrm>
              <a:off x="0" y="1183362"/>
              <a:ext cx="95885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3B75CE"/>
                  </a:solidFill>
                  <a:latin typeface="DM Sans"/>
                  <a:ea typeface="DM Sans"/>
                  <a:cs typeface="DM Sans"/>
                  <a:sym typeface="DM Sans"/>
                </a:rPr>
                <a:t>SkillMatch provides equitable access to job opportunities for all first-year students.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95885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3B75C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FAIR OPPORTUNITIES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5165675"/>
            <a:ext cx="7191375" cy="1612850"/>
            <a:chOff x="0" y="0"/>
            <a:chExt cx="9588500" cy="2150467"/>
          </a:xfrm>
        </p:grpSpPr>
        <p:sp>
          <p:nvSpPr>
            <p:cNvPr id="6" name="TextBox 6"/>
            <p:cNvSpPr txBox="1"/>
            <p:nvPr/>
          </p:nvSpPr>
          <p:spPr>
            <a:xfrm>
              <a:off x="0" y="1183362"/>
              <a:ext cx="95885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3B75CE"/>
                  </a:solidFill>
                  <a:latin typeface="DM Sans"/>
                  <a:ea typeface="DM Sans"/>
                  <a:cs typeface="DM Sans"/>
                  <a:sym typeface="DM Sans"/>
                </a:rPr>
                <a:t>The platform is designed specifically to support fresh graduates entering the workforce.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95885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3B75C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HELPS FRESHERS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7829550"/>
            <a:ext cx="7191375" cy="1612850"/>
            <a:chOff x="0" y="0"/>
            <a:chExt cx="9588500" cy="2150467"/>
          </a:xfrm>
        </p:grpSpPr>
        <p:sp>
          <p:nvSpPr>
            <p:cNvPr id="9" name="TextBox 9"/>
            <p:cNvSpPr txBox="1"/>
            <p:nvPr/>
          </p:nvSpPr>
          <p:spPr>
            <a:xfrm>
              <a:off x="0" y="1183362"/>
              <a:ext cx="95885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3B75CE"/>
                  </a:solidFill>
                  <a:latin typeface="DM Sans"/>
                  <a:ea typeface="DM Sans"/>
                  <a:cs typeface="DM Sans"/>
                  <a:sym typeface="DM Sans"/>
                </a:rPr>
                <a:t>SkillMatch connects freshers with suitable entry-level positions, bridging the employment gap.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95885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3B75C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ENTRY-LEVEL JOBS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96400" y="2457450"/>
            <a:ext cx="7191375" cy="1612850"/>
            <a:chOff x="0" y="0"/>
            <a:chExt cx="9588500" cy="2150467"/>
          </a:xfrm>
        </p:grpSpPr>
        <p:sp>
          <p:nvSpPr>
            <p:cNvPr id="12" name="TextBox 12"/>
            <p:cNvSpPr txBox="1"/>
            <p:nvPr/>
          </p:nvSpPr>
          <p:spPr>
            <a:xfrm>
              <a:off x="0" y="1183362"/>
              <a:ext cx="95885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3B75CE"/>
                  </a:solidFill>
                  <a:latin typeface="DM Sans"/>
                  <a:ea typeface="DM Sans"/>
                  <a:cs typeface="DM Sans"/>
                  <a:sym typeface="DM Sans"/>
                </a:rPr>
                <a:t>Users gain hands-on experience through task-based assessments and real-world projects.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95885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3B75C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PRACTICAL EXPERIENCE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296400" y="5165675"/>
            <a:ext cx="7191375" cy="1612850"/>
            <a:chOff x="0" y="0"/>
            <a:chExt cx="9588500" cy="2150467"/>
          </a:xfrm>
        </p:grpSpPr>
        <p:sp>
          <p:nvSpPr>
            <p:cNvPr id="15" name="TextBox 15"/>
            <p:cNvSpPr txBox="1"/>
            <p:nvPr/>
          </p:nvSpPr>
          <p:spPr>
            <a:xfrm>
              <a:off x="0" y="1183362"/>
              <a:ext cx="95885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3B75CE"/>
                  </a:solidFill>
                  <a:latin typeface="DM Sans"/>
                  <a:ea typeface="DM Sans"/>
                  <a:cs typeface="DM Sans"/>
                  <a:sym typeface="DM Sans"/>
                </a:rPr>
                <a:t>Emphasizing skills rather than traditional resumes ensures relevant candidates for employers.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95885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3B75C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SKILL-BASED FOCUS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66750" y="733425"/>
            <a:ext cx="16954500" cy="114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1A3E8C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Advantages of SkillMatch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2457450"/>
            <a:ext cx="7191375" cy="1612850"/>
            <a:chOff x="0" y="0"/>
            <a:chExt cx="9588500" cy="2150467"/>
          </a:xfrm>
        </p:grpSpPr>
        <p:sp>
          <p:nvSpPr>
            <p:cNvPr id="3" name="TextBox 3"/>
            <p:cNvSpPr txBox="1"/>
            <p:nvPr/>
          </p:nvSpPr>
          <p:spPr>
            <a:xfrm>
              <a:off x="0" y="1183362"/>
              <a:ext cx="95885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3B75CE"/>
                  </a:solidFill>
                  <a:latin typeface="DM Sans"/>
                  <a:ea typeface="DM Sans"/>
                  <a:cs typeface="DM Sans"/>
                  <a:sym typeface="DM Sans"/>
                </a:rPr>
                <a:t>Implementing AI technology will enhance fraud detection and ensure secure user interactions.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95885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3B75C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AI FRAUD CHECKS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5165675"/>
            <a:ext cx="7191375" cy="1612850"/>
            <a:chOff x="0" y="0"/>
            <a:chExt cx="9588500" cy="2150467"/>
          </a:xfrm>
        </p:grpSpPr>
        <p:sp>
          <p:nvSpPr>
            <p:cNvPr id="6" name="TextBox 6"/>
            <p:cNvSpPr txBox="1"/>
            <p:nvPr/>
          </p:nvSpPr>
          <p:spPr>
            <a:xfrm>
              <a:off x="0" y="1183362"/>
              <a:ext cx="95885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3B75CE"/>
                  </a:solidFill>
                  <a:latin typeface="DM Sans"/>
                  <a:ea typeface="DM Sans"/>
                  <a:cs typeface="DM Sans"/>
                  <a:sym typeface="DM Sans"/>
                </a:rPr>
                <a:t>Collaborating with industry leaders will provide students with valuable connections and opportunities.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95885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3B75C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INDUSTRY PARTNERSHIPS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7829550"/>
            <a:ext cx="7191375" cy="1612850"/>
            <a:chOff x="0" y="0"/>
            <a:chExt cx="9588500" cy="2150467"/>
          </a:xfrm>
        </p:grpSpPr>
        <p:sp>
          <p:nvSpPr>
            <p:cNvPr id="9" name="TextBox 9"/>
            <p:cNvSpPr txBox="1"/>
            <p:nvPr/>
          </p:nvSpPr>
          <p:spPr>
            <a:xfrm>
              <a:off x="0" y="1183362"/>
              <a:ext cx="95885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3B75CE"/>
                  </a:solidFill>
                  <a:latin typeface="DM Sans"/>
                  <a:ea typeface="DM Sans"/>
                  <a:cs typeface="DM Sans"/>
                  <a:sym typeface="DM Sans"/>
                </a:rPr>
                <a:t>Expanding the tech stack will enhance functionality and allow for diverse development possibilities.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95885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3B75C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MORE TECH STACKS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96400" y="2457450"/>
            <a:ext cx="7191375" cy="1612850"/>
            <a:chOff x="0" y="0"/>
            <a:chExt cx="9588500" cy="2150467"/>
          </a:xfrm>
        </p:grpSpPr>
        <p:sp>
          <p:nvSpPr>
            <p:cNvPr id="12" name="TextBox 12"/>
            <p:cNvSpPr txBox="1"/>
            <p:nvPr/>
          </p:nvSpPr>
          <p:spPr>
            <a:xfrm>
              <a:off x="0" y="1183362"/>
              <a:ext cx="95885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3B75CE"/>
                  </a:solidFill>
                  <a:latin typeface="DM Sans"/>
                  <a:ea typeface="DM Sans"/>
                  <a:cs typeface="DM Sans"/>
                  <a:sym typeface="DM Sans"/>
                </a:rPr>
                <a:t>Utilizing blockchain will verify skill badges, ensuring authenticity and trustworthiness for employers.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95885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3B75C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BLOCKCHAIN BADGES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296400" y="5165675"/>
            <a:ext cx="7191375" cy="1612850"/>
            <a:chOff x="0" y="0"/>
            <a:chExt cx="9588500" cy="2150467"/>
          </a:xfrm>
        </p:grpSpPr>
        <p:sp>
          <p:nvSpPr>
            <p:cNvPr id="15" name="TextBox 15"/>
            <p:cNvSpPr txBox="1"/>
            <p:nvPr/>
          </p:nvSpPr>
          <p:spPr>
            <a:xfrm>
              <a:off x="0" y="1183362"/>
              <a:ext cx="95885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3B75CE"/>
                  </a:solidFill>
                  <a:latin typeface="DM Sans"/>
                  <a:ea typeface="DM Sans"/>
                  <a:cs typeface="DM Sans"/>
                  <a:sym typeface="DM Sans"/>
                </a:rPr>
                <a:t>The platform architecture will support growth, accommodating increasing user demand effectively.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95885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3B75C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SCALABLE PLATFORM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66750" y="733425"/>
            <a:ext cx="16954500" cy="114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1A3E8C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Future Scope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2457450"/>
            <a:ext cx="7191375" cy="1612850"/>
            <a:chOff x="0" y="0"/>
            <a:chExt cx="9588500" cy="2150467"/>
          </a:xfrm>
        </p:grpSpPr>
        <p:sp>
          <p:nvSpPr>
            <p:cNvPr id="3" name="TextBox 3"/>
            <p:cNvSpPr txBox="1"/>
            <p:nvPr/>
          </p:nvSpPr>
          <p:spPr>
            <a:xfrm>
              <a:off x="0" y="1183362"/>
              <a:ext cx="95885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3B75CE"/>
                  </a:solidFill>
                  <a:latin typeface="DM Sans"/>
                  <a:ea typeface="DM Sans"/>
                  <a:cs typeface="DM Sans"/>
                  <a:sym typeface="DM Sans"/>
                </a:rPr>
                <a:t>Skill-based hiring is the future, aligning talent with industry demands effectively.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95885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3B75C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FUTURE OF HIRING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5165675"/>
            <a:ext cx="7191375" cy="1612850"/>
            <a:chOff x="0" y="0"/>
            <a:chExt cx="9588500" cy="2150467"/>
          </a:xfrm>
        </p:grpSpPr>
        <p:sp>
          <p:nvSpPr>
            <p:cNvPr id="6" name="TextBox 6"/>
            <p:cNvSpPr txBox="1"/>
            <p:nvPr/>
          </p:nvSpPr>
          <p:spPr>
            <a:xfrm>
              <a:off x="0" y="1183362"/>
              <a:ext cx="95885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3B75CE"/>
                  </a:solidFill>
                  <a:latin typeface="DM Sans"/>
                  <a:ea typeface="DM Sans"/>
                  <a:cs typeface="DM Sans"/>
                  <a:sym typeface="DM Sans"/>
                </a:rPr>
                <a:t>The platform emphasizes practical experience, bridging the gap between education and employment.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95885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3B75C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PRACTICAL EXPERIENCE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7829550"/>
            <a:ext cx="7191375" cy="1612850"/>
            <a:chOff x="0" y="0"/>
            <a:chExt cx="9588500" cy="2150467"/>
          </a:xfrm>
        </p:grpSpPr>
        <p:sp>
          <p:nvSpPr>
            <p:cNvPr id="9" name="TextBox 9"/>
            <p:cNvSpPr txBox="1"/>
            <p:nvPr/>
          </p:nvSpPr>
          <p:spPr>
            <a:xfrm>
              <a:off x="0" y="1183362"/>
              <a:ext cx="95885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3B75CE"/>
                  </a:solidFill>
                  <a:latin typeface="DM Sans"/>
                  <a:ea typeface="DM Sans"/>
                  <a:cs typeface="DM Sans"/>
                  <a:sym typeface="DM Sans"/>
                </a:rPr>
                <a:t>SkillMatch promotes equal opportunities, ensuring all candidates have a fair chance at success.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95885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3B75C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EQUAL OPPORTUNITIES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96400" y="2457450"/>
            <a:ext cx="7191375" cy="1612850"/>
            <a:chOff x="0" y="0"/>
            <a:chExt cx="9588500" cy="2150467"/>
          </a:xfrm>
        </p:grpSpPr>
        <p:sp>
          <p:nvSpPr>
            <p:cNvPr id="12" name="TextBox 12"/>
            <p:cNvSpPr txBox="1"/>
            <p:nvPr/>
          </p:nvSpPr>
          <p:spPr>
            <a:xfrm>
              <a:off x="0" y="1183362"/>
              <a:ext cx="95885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3B75CE"/>
                  </a:solidFill>
                  <a:latin typeface="DM Sans"/>
                  <a:ea typeface="DM Sans"/>
                  <a:cs typeface="DM Sans"/>
                  <a:sym typeface="DM Sans"/>
                </a:rPr>
                <a:t>SkillMatch provides critical opportunities for freshers to showcase their talents.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95885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3B75C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SUPPORT FOR FRESHERS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296400" y="5165675"/>
            <a:ext cx="7191375" cy="1612850"/>
            <a:chOff x="0" y="0"/>
            <a:chExt cx="9588500" cy="2150467"/>
          </a:xfrm>
        </p:grpSpPr>
        <p:sp>
          <p:nvSpPr>
            <p:cNvPr id="15" name="TextBox 15"/>
            <p:cNvSpPr txBox="1"/>
            <p:nvPr/>
          </p:nvSpPr>
          <p:spPr>
            <a:xfrm>
              <a:off x="0" y="1183362"/>
              <a:ext cx="9588500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3B75CE"/>
                  </a:solidFill>
                  <a:latin typeface="DM Sans"/>
                  <a:ea typeface="DM Sans"/>
                  <a:cs typeface="DM Sans"/>
                  <a:sym typeface="DM Sans"/>
                </a:rPr>
                <a:t>Graduates become industry-ready, possessing skills that meet employer expectations directly.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95885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US" sz="2600" b="1">
                  <a:solidFill>
                    <a:srgbClr val="3B75C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INDUSTRY-READY STUDENTS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66750" y="733425"/>
            <a:ext cx="16954500" cy="114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1A3E8C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Conclusion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E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666750"/>
            <a:ext cx="8324850" cy="2632656"/>
            <a:chOff x="0" y="0"/>
            <a:chExt cx="11099800" cy="3510208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15546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>
                  <a:solidFill>
                    <a:srgbClr val="F9FAFB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Thank You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047803"/>
              <a:ext cx="11099800" cy="14624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F9FAFB"/>
                  </a:solidFill>
                  <a:latin typeface="DM Sans"/>
                  <a:ea typeface="DM Sans"/>
                  <a:cs typeface="DM Sans"/>
                  <a:sym typeface="DM Sans"/>
                </a:rPr>
                <a:t>We appreciate your attention and support for </a:t>
              </a:r>
              <a:r>
                <a:rPr lang="en-US" sz="2100" b="1">
                  <a:solidFill>
                    <a:srgbClr val="F9FAFB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SkillMatch</a:t>
              </a:r>
              <a:r>
                <a:rPr lang="en-US" sz="2100">
                  <a:solidFill>
                    <a:srgbClr val="F9FAFB"/>
                  </a:solidFill>
                  <a:latin typeface="DM Sans"/>
                  <a:ea typeface="DM Sans"/>
                  <a:cs typeface="DM Sans"/>
                  <a:sym typeface="DM Sans"/>
                </a:rPr>
                <a:t>. Our platform is designed to empower freshers with equal opportunities in the job market.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709</Words>
  <Application>Microsoft Office PowerPoint</Application>
  <PresentationFormat>Custom</PresentationFormat>
  <Paragraphs>108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Georgia Pro Light</vt:lpstr>
      <vt:lpstr>Calibri</vt:lpstr>
      <vt:lpstr>DM Sans</vt:lpstr>
      <vt:lpstr>DM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Fast-Track Portal</dc:title>
  <dc:description>Presentation - Fast-Track Portal</dc:description>
  <cp:lastModifiedBy>ADVAITH K</cp:lastModifiedBy>
  <cp:revision>1</cp:revision>
  <dcterms:created xsi:type="dcterms:W3CDTF">2006-08-16T00:00:00Z</dcterms:created>
  <dcterms:modified xsi:type="dcterms:W3CDTF">2026-04-02T07:29:13Z</dcterms:modified>
  <dc:identifier>DAHEagSmxbI</dc:identifier>
</cp:coreProperties>
</file>